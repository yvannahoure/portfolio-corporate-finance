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Taux d'inclusion financière, UEMOA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Taux d'inclusion financière UEMOA</c:v>
                </c:pt>
              </c:strCache>
            </c:strRef>
          </c:tx>
          <c:spPr>
            <a:solidFill>
              <a:srgbClr val="0F6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2016</c:v>
                  </c:pt>
                  <c:pt idx="1">
                    <c:v>2023</c:v>
                  </c:pt>
                  <c:pt idx="2">
                    <c:v>Cible 2030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</c:v>
                </c:pt>
                <c:pt idx="1">
                  <c:v>72.3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F4F1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+mn-lt"/>
              </a:rPr>
              <a:t>Chiffre d'affaires et marge d'EBITDA, 2027F-2031F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Chiffre d'affaires (M FCFA)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2027F</c:v>
                  </c:pt>
                  <c:pt idx="1">
                    <c:v>2028F</c:v>
                  </c:pt>
                  <c:pt idx="2">
                    <c:v>2029F</c:v>
                  </c:pt>
                  <c:pt idx="3">
                    <c:v>2030F</c:v>
                  </c:pt>
                  <c:pt idx="4">
                    <c:v>2031F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156</c:v>
                </c:pt>
                <c:pt idx="1">
                  <c:v>609</c:v>
                </c:pt>
                <c:pt idx="2">
                  <c:v>1681</c:v>
                </c:pt>
                <c:pt idx="3">
                  <c:v>3084</c:v>
                </c:pt>
                <c:pt idx="4">
                  <c:v>4829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Marge d'EBITDA (%)</c:v>
                </c:pt>
              </c:strCache>
            </c:strRef>
          </c:tx>
          <c:spPr>
            <a:solidFill>
              <a:srgbClr val="1F3864"/>
            </a:solidFill>
            <a:ln w="254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D98E04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E0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2027F</c:v>
                  </c:pt>
                  <c:pt idx="1">
                    <c:v>2028F</c:v>
                  </c:pt>
                  <c:pt idx="2">
                    <c:v>2029F</c:v>
                  </c:pt>
                  <c:pt idx="3">
                    <c:v>2030F</c:v>
                  </c:pt>
                  <c:pt idx="4">
                    <c:v>2031F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-32</c:v>
                </c:pt>
                <c:pt idx="1">
                  <c:v>28.1</c:v>
                </c:pt>
                <c:pt idx="2">
                  <c:v>50.2</c:v>
                </c:pt>
                <c:pt idx="3">
                  <c:v>60.3</c:v>
                </c:pt>
                <c:pt idx="4">
                  <c:v>65.9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D98E04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1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 FCFA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majorGridlines>
          <c:spPr>
            <a:ln w="12700" cap="flat">
              <a:solidFill>
                <a:srgbClr val="F4F1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+mn-lt"/>
              </a:rPr>
              <a:t>Utilisation des fonds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 des fonds</c:v>
                </c:pt>
              </c:strCache>
            </c:strRef>
          </c:tx>
          <c:spPr>
            <a:solidFill>
              <a:srgbClr val="4FD1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Produit &amp; techno</c:v>
                  </c:pt>
                  <c:pt idx="1">
                    <c:v>Acquisition &amp; marketing</c:v>
                  </c:pt>
                  <c:pt idx="2">
                    <c:v>Recrutement équipe</c:v>
                  </c:pt>
                  <c:pt idx="3">
                    <c:v>Conformité &amp; licence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4" name="Shape 0"/>
          <p:cNvSpPr/>
          <p:nvPr/>
        </p:nvSpPr>
        <p:spPr>
          <a:xfrm>
            <a:off x="640080" y="2103120"/>
            <a:ext cx="1005840" cy="54864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5" name="Text 1"/>
          <p:cNvSpPr/>
          <p:nvPr/>
        </p:nvSpPr>
        <p:spPr>
          <a:xfrm>
            <a:off x="64008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241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88952" cy="32004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561320" y="347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KobaPay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L'épargne de groupe et le paiement mobile, réinventés pour l'UEMOA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 Seed - 2027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présentation construit à des fins de démonstration (Yvann Ahoure) - KobaPay est une startup fictive ; les données de marché citées sont réelles et sourcées, toutes les données propres à KobaPay sont inventées pour l'exercice.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: l'inclusion financière progresse, mais reste incomplète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0F6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72,3 %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d'inclusion financière dans l'UEMOA en 2023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0F6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600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26280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en 2016 - une progression réelle en moins de 10 ans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0" y="1417320"/>
            <a:ext cx="34290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0F6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1600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8275320" y="24231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régionale de la Stratégie d'inclusion financière 2025-2030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cache 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des millions de ménages de la zone UEMOA, l'épargne de groupe informelle (tontine) reste la norme - sans traçabilité, sans sécurité des fonds, et sans historique exploitable pour accéder au crédit.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126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BCEAO/UEMOA, Rapport et Stratégie régionale d'inclusion financière 2025-2030.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trois usages, une seule application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3429000" cy="731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mobile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Transferts et paiements marchands. Commission de 1,3 % sur le volume transactionnel.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371600"/>
            <a:ext cx="3429000" cy="73152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2628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Épargne de groupe digitale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Tontine sécurisée et traçable. Frais de gestion annuel de 1,5 % sur l'encours géré (AUM).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371600"/>
            <a:ext cx="3429000" cy="73152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1600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7532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Micro-crédit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2971800"/>
            <a:ext cx="30175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à partir de l'année 3, une fois l'historique d'épargne disponible. Marge nette d'intérêt de 9 %.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- projet fictif construit à des fins pédagogiques pour ce portfolio.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marché : porté par l'essor du mobile money ouest-africain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858000" y="1554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498 Md$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 de transactions mobile money en Afrique de l'Ouest en 2025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858000" y="32918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dans son ensemble concentre à elle seule environ 66 % de la valeur mondiale des transactions mobile money (2,09 Mds$ en 2025, +23 % sur un an) - un marché déjà massif, sur lequel l'épargne de groupe structurée reste un usage largement sous-adressé par les acteurs existants.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1722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BCEAO/UEMOA (2025) ; GSMA, State of the Industry Report on Mobile Money 2026.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 : trois moteurs de revenu, activés progressivement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8288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201168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 de revenu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appliqué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Transactionnel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de transferts et paiements marchands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Dès l'année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de groupe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Encours d'épargne géré (AUM)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1,5 % / 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Dès l'année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Micro-crédit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Encours de crédit (marge nette)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9 % / 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partir de l'année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6576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séquencement : le transactionnel amorce l'usage quotidien et la confiance ; l'épargne de groupe construit un historique financier vérifiable pour chaque utilisateur ; le micro-crédit n'est ouvert qu'une fois cet historique disponible, ce qui limite le risque de crédit à l'amorçage.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- projet fictif construit à des fins pédagogiques pour ce portfolio.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Trajectoire financière : le chemin vers la rentabilité</a:t>
            </a:r>
            <a:endParaRPr lang="en-US" sz="25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772400" y="1463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x31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77240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du chiffre d'affaires entre 2027F et 2031F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772400" y="3063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2028F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772400" y="3611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année d'EBITDA positif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0" y="4663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65,9 %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772400" y="5212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d'EBITDA atteinte en 2031F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- projet fictif construit à des fins pédagogiques pour ce portfolio.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: un espace sous-adressé entre télécoms et banques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377440"/>
        </p:xfrm>
        <a:graphic>
          <a:graphicData uri="http://schemas.openxmlformats.org/drawingml/2006/table">
            <a:tbl>
              <a:tblPr/>
              <a:tblGrid>
                <a:gridCol w="3383280"/>
                <a:gridCol w="2651760"/>
                <a:gridCol w="2651760"/>
                <a:gridCol w="23774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 mobile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Épargne de groupe structurée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Micro-crédit lié à l'épargne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Opérateurs mobile money (Orange Money, Wave, MTN MoMo...)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cœur de métier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structuré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Banques traditionnelles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mais accès et KYC contraignants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hors cible non-bancarisée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KobaPay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- cœur de métier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Oui, dès l'année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B5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ne cherche pas à concurrencer les opérateurs mobile money sur le paiement seul, mais à occuper l'espace qu'ils laissent vacant : l'épargne de groupe digitalisée comme porte d'entrée vers le crédit, pour une population que les banques traditionnelles n'adressent pas efficacement.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- projet fictif construit à des fins pédagogiques pour ce portfolio.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 sur 5 ans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4572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4" name="Shape 2"/>
          <p:cNvSpPr/>
          <p:nvPr/>
        </p:nvSpPr>
        <p:spPr>
          <a:xfrm>
            <a:off x="2171700" y="1627632"/>
            <a:ext cx="182880" cy="18288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en Côte d'Ivoire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mobile et épargne de groupe. Objectif 25 000 utilisateurs actifs.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429000" cy="4572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9" name="Shape 7"/>
          <p:cNvSpPr/>
          <p:nvPr/>
        </p:nvSpPr>
        <p:spPr>
          <a:xfrm>
            <a:off x="5920740" y="1627632"/>
            <a:ext cx="182880" cy="18288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920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2028F-2029F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Montée en puissance locale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34840" y="301752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de la base utilisateurs. Extension au Sénégal et lancement du micro-crédit en 2029F (année 3).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429000" cy="4572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9780" y="1627632"/>
            <a:ext cx="182880" cy="182880"/>
          </a:xfrm>
          <a:prstGeom prst="ellipse">
            <a:avLst/>
          </a:prstGeom>
          <a:solidFill>
            <a:srgbClr val="D98E0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920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6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2030F-2031F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83880" y="24231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régionale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83880" y="3017520"/>
            <a:ext cx="3154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sur les deux marchés, approfondissement du produit de crédit, préparation d'un tour de table ultérieur.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KobaPay - projet fictif construit à des fins pédagogiques pour ce portfolio.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2011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Équipe fondatrice (profils illustratifs)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897380" y="1554480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89738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&amp; Co-fondateur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stratégique et levée de fonds. Expérience en paiements mobiles et marchés UEMOA.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46420" y="1554480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564642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 &amp; Co-fondateur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971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 de la plateforme, sécurité des fonds et des données utilisateurs.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395460" y="1554480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939546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83880" y="24231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1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Conformité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21040" y="297180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avec le régulateur (BCEAO), licence d'Établissement de Monnaie Électronique (EME).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illustratifs construits pour l'exercice : aucune personne réelle n'est associée à ce projet fictif.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Levée de 550 000 € en seed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4FD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18 à 24 mois de runway, jusqu'à l'extension régionale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550 000 €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754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levé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2608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2 450 000 €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26080" y="4754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pre-money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212080" y="42062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3 000 000 €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12080" y="47548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valorisation post-money</a:t>
            </a:r>
            <a:endParaRPr lang="en-US" sz="10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0" y="1463040"/>
          <a:ext cx="43891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- Yvann Ahoure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baPay">
  <a:themeElements>
    <a:clrScheme name="KobaPay">
      <a:dk1>
        <a:srgbClr val="16211C"/>
      </a:dk1>
      <a:lt1>
        <a:srgbClr val="FFFFFF"/>
      </a:lt1>
      <a:dk2>
        <a:srgbClr val="0F6B5C"/>
      </a:dk2>
      <a:lt2>
        <a:srgbClr val="F4F1EA"/>
      </a:lt2>
      <a:accent1>
        <a:srgbClr val="0F6B5C"/>
      </a:accent1>
      <a:accent2>
        <a:srgbClr val="D98E04"/>
      </a:accent2>
      <a:accent3>
        <a:srgbClr val="1F3864"/>
      </a:accent3>
      <a:accent4>
        <a:srgbClr val="4FD1A5"/>
      </a:accent4>
      <a:accent5>
        <a:srgbClr val="7A4419"/>
      </a:accent5>
      <a:accent6>
        <a:srgbClr val="5B6B64"/>
      </a:accent6>
      <a:hlink>
        <a:srgbClr val="0F6B5C"/>
      </a:hlink>
      <a:folHlink>
        <a:srgbClr val="7A4419"/>
      </a:folHlink>
    </a:clrScheme>
    <a:fontScheme name="KobaPa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KobaPay (projet fictif)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KobaPay - Pitch Deck (Seed)</dc:title>
  <dc:subject>PptxGenJS Presentation</dc:subject>
  <dc:creator>Yvann Ahoure</dc:creator>
  <cp:lastModifiedBy>Yvann Ahoure</cp:lastModifiedBy>
  <cp:revision>1</cp:revision>
  <dcterms:created xsi:type="dcterms:W3CDTF">2026-10-13T13:32:33Z</dcterms:created>
  <dcterms:modified xsi:type="dcterms:W3CDTF">2026-10-13T13:32:33Z</dcterms:modified>
</cp:coreProperties>
</file>