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3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charts/chart4.xml" ContentType="application/vnd.openxmlformats-officedocument.drawingml.chart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ck" id="{a3e5f768-0cc2-2a79-bf7c-e6c3b767730d}">
          <p14:sldIdLst>
            <p14:sldId id="256"/>
            <p14:sldId id="257"/>
            <p14:sldId id="258"/>
            <p14:sldId id="259"/>
            <p14:sldId id="260"/>
            <p14:sldId id="261"/>
            <p14:sldId id="262"/>
            <p14:sldId id="263"/>
            <p14:sldId id="264"/>
            <p14:sldId id="265"/>
            <p14:sldId id="266"/>
            <p14:sldId id="267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Calibri"/>
              </a:rPr>
              <a:t>Marché total baby food (0-3 ans), Md$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Marché total baby food (0-3 ans), Md$</c:v>
                </c:pt>
              </c:strCache>
            </c:strRef>
          </c:tx>
          <c:spPr>
            <a:solidFill>
              <a:srgbClr val="8C8C8C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13.22</c:v>
                </c:pt>
                <c:pt idx="1">
                  <c:v>17.77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1B2A4A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1B2A4A"/>
                </a:solidFill>
                <a:latin typeface="Calibri"/>
              </a:rPr>
              <a:t>Dont segment bio, Md$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Dont segment bio, Md$</c:v>
                </c:pt>
              </c:strCache>
            </c:strRef>
          </c:tx>
          <c:spPr>
            <a:solidFill>
              <a:srgbClr val="0E63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2030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1.04</c:v>
                </c:pt>
                <c:pt idx="1">
                  <c:v>1.64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 Smileat (M€)</c:v>
                </c:pt>
              </c:strCache>
            </c:strRef>
          </c:tx>
          <c:spPr>
            <a:solidFill>
              <a:srgbClr val="0E63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2023</c:v>
                  </c:pt>
                  <c:pt idx="1">
                    <c:v>2024</c:v>
                  </c:pt>
                  <c:pt idx="2">
                    <c:v>2025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12</c:v>
                </c:pt>
                <c:pt idx="1">
                  <c:v>16.8</c:v>
                </c:pt>
                <c:pt idx="2">
                  <c:v>21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Boissons fonctionnelles (Md$)</c:v>
                </c:pt>
              </c:strCache>
            </c:strRef>
          </c:tx>
          <c:spPr>
            <a:solidFill>
              <a:srgbClr val="0E63A8"/>
            </a:solidFill>
            <a:effectLst/>
          </c:spPr>
          <c:invertIfNegative val="0"/>
          <c:dLbls>
            <c:numFmt formatCode="0.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B2A4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Sheet1!$A$2:$A$3</c:f>
              <c:multiLvlStrCache>
                <c:ptCount val="2"/>
                <c:lvl>
                  <c:pt idx="0">
                    <c:v>2025</c:v>
                  </c:pt>
                  <c:pt idx="1">
                    <c:v>2031</c:v>
                  </c:pt>
                </c:lvl>
              </c:multiLvlStrCache>
            </c:multiLvl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33.3</c:v>
                </c:pt>
                <c:pt idx="1">
                  <c:v>47.1</c:v>
                </c:pt>
              </c:numCache>
            </c:numRef>
          </c:val>
        </c:ser>
        <c:dLbls>
          <c:numFmt formatCode="0.0" sourceLinked="0"/>
          <c:txPr>
            <a:bodyPr/>
            <a:lstStyle/>
            <a:p>
              <a:pPr>
                <a:defRPr b="0" i="0" strike="noStrike" sz="1100" u="none">
                  <a:solidFill>
                    <a:srgbClr val="1B2A4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1B2A4A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1"/>
        <c:axPos val="l"/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Recherche fictive réalisée dans le cadre d'un test technique de recrutement pour Collaboration Capital. Ne reflète aucune stratégie réelle d'Evian ou de Danone.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defRPr>
            </a:lvl1pPr>
          </a:lstStyle>
          <a:p>
            <a:pPr algn="l" indent="0" marL="0">
              <a:buNone/>
            </a:pPr>
            <a:endParaRPr lang="en-US" sz="2500" dirty="0"/>
          </a:p>
        </p:txBody>
      </p:sp>
      <p:sp>
        <p:nvSpPr>
          <p:cNvPr id="3" name="Text 0"/>
          <p:cNvSpPr/>
          <p:nvPr/>
        </p:nvSpPr>
        <p:spPr>
          <a:xfrm>
            <a:off x="548640" y="6537960"/>
            <a:ext cx="9144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Recherche fictive - test technique Collaboration Capital - données publiques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chart" Target="/ppt/charts/chart2.xml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640080" y="2011680"/>
            <a:ext cx="10881360" cy="146304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3800" b="1" dirty="0">
                <a:solidFill>
                  <a:schemeClr val="bg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Identification d'une cible de croissance externe</a:t>
            </a:r>
            <a:endParaRPr lang="en-US" sz="38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3429000"/>
            <a:ext cx="10881360" cy="82296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150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Evian (groupe Danone) - segment baby food bio, Europe  |  Test technique - Collaboration Capital  |  Yvann Ahoure</a:t>
            </a:r>
            <a:endParaRPr lang="en-US" sz="1500" dirty="0"/>
          </a:p>
        </p:txBody>
      </p:sp>
      <p:sp>
        <p:nvSpPr>
          <p:cNvPr id="4" name="Shape 2"/>
          <p:cNvSpPr/>
          <p:nvPr/>
        </p:nvSpPr>
        <p:spPr>
          <a:xfrm>
            <a:off x="0" y="4709160"/>
            <a:ext cx="12188952" cy="27432"/>
          </a:xfrm>
          <a:prstGeom prst="rect">
            <a:avLst/>
          </a:prstGeom>
          <a:solidFill>
            <a:srgbClr val="6FA8D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5029200"/>
            <a:ext cx="68580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Contexte stratégique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Méthodologie en 5 étapes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Segmentation, short-list et cible retenue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Rationale stratégique et axe de croissance alternatif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6400800"/>
            <a:ext cx="10881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travail - recherche fictive réalisée dans le cadre d'un test technique de recrutement. Ne reflète aucune stratégie réelle d'Evian ou de Danone.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Contexte et mandat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675120" cy="2331720"/>
          </a:xfrm>
          <a:prstGeom prst="roundRect">
            <a:avLst>
              <a:gd name="adj" fmla="val 2353"/>
            </a:avLst>
          </a:prstGeom>
          <a:solidFill>
            <a:srgbClr val="EAF1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777240" y="138988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MANDAT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1691640"/>
            <a:ext cx="6217920" cy="1783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Evian, au sein du groupe Danone, cherche à renforcer son positionnement sur la nutrition saine des enfants (0-14 ans) par une opération de croissance externe en Europe, sur une cible réalisant 1 à 300 M€ de chiffre d'affaires.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3703320"/>
            <a:ext cx="6675120" cy="2331720"/>
          </a:xfrm>
          <a:prstGeom prst="roundRect">
            <a:avLst>
              <a:gd name="adj" fmla="val 2353"/>
            </a:avLst>
          </a:prstGeom>
          <a:solidFill>
            <a:srgbClr val="EAF1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77240" y="3858768"/>
            <a:ext cx="6217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ÉVOLUTION RÉCENTE DE DANONE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777240" y="4160520"/>
            <a:ext cx="62179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Depuis 2024, le groupe accélère sur la nutrition fonctionnelle et santé : Kate Farms, Functional Formularies, The Akkermansia Company.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Huel (repas complets équilibrés) acquis ; MADE Group (boissons santé, yaourts santé intestinale) annoncé en 2026.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Plus de 2,5 Md$ engagés dans la nutrition fonctionnelle depuis 2025, au titre de la stratégie « Renew Danone ».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0" y="1234440"/>
            <a:ext cx="4114800" cy="4800600"/>
          </a:xfrm>
          <a:prstGeom prst="roundRect">
            <a:avLst>
              <a:gd name="adj" fmla="val 1333"/>
            </a:avLst>
          </a:prstGeom>
          <a:solidFill>
            <a:srgbClr val="1B2A4A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7724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Critères du mandat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7772400" y="1828800"/>
            <a:ext cx="356616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européenne, alimentation ou boisson innovante et équilibrée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Enfants 0-14 ans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 de 1 à 300 M€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772400" y="3474720"/>
            <a:ext cx="3566160" cy="0"/>
          </a:xfrm>
          <a:prstGeom prst="line">
            <a:avLst/>
          </a:prstGeom>
          <a:noFill/>
          <a:ln w="12700">
            <a:solidFill>
              <a:srgbClr val="35476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7772400" y="361188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Livrables attendus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772400" y="4023360"/>
            <a:ext cx="356616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Identifier un type d'activité pertinent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Proposer une ou plusieurs sociétés cibles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Suggérer un axe de croissance alternatif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de travail - screening exploratoire fondé sur des données publiques vérifiées. Source : danone.com (communiqué Huel, 2026) ; globenewswire.com (communiqué MADE Group, 22/06/2026).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Méthodologie en 5 étapes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2139696" cy="822960"/>
          </a:xfrm>
          <a:prstGeom prst="roundRect">
            <a:avLst>
              <a:gd name="adj" fmla="val 6667"/>
            </a:avLst>
          </a:prstGeom>
          <a:solidFill>
            <a:srgbClr val="EAF1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48640" y="146304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1. Critères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23160"/>
            <a:ext cx="2048256" cy="3566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Europe, enfants 0-14 ans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Alimentation et boissons saines, bio, sans sucre ajouté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publié de 1 à 300 M€</a:t>
            </a:r>
            <a:endParaRPr lang="en-US" sz="1050" dirty="0"/>
          </a:p>
        </p:txBody>
      </p:sp>
      <p:sp>
        <p:nvSpPr>
          <p:cNvPr id="6" name="Shape 4"/>
          <p:cNvSpPr/>
          <p:nvPr/>
        </p:nvSpPr>
        <p:spPr>
          <a:xfrm>
            <a:off x="2798064" y="1463040"/>
            <a:ext cx="2139696" cy="822960"/>
          </a:xfrm>
          <a:prstGeom prst="roundRect">
            <a:avLst>
              <a:gd name="adj" fmla="val 6667"/>
            </a:avLst>
          </a:prstGeom>
          <a:solidFill>
            <a:srgbClr val="EAF1F8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798064" y="146304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2. Screening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2843784" y="2423160"/>
            <a:ext cx="2048256" cy="3566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Registres officiels (Pappers, Companies House)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Presse spécialisée (FoodNavigator, LSA, The Grocer)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Bases de marché (Mordor, Euromonitor)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047488" y="1463040"/>
            <a:ext cx="2139696" cy="822960"/>
          </a:xfrm>
          <a:prstGeom prst="roundRect">
            <a:avLst>
              <a:gd name="adj" fmla="val 6667"/>
            </a:avLst>
          </a:prstGeom>
          <a:solidFill>
            <a:srgbClr val="0E63A8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5047488" y="146304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3. Segmentation</a:t>
            </a:r>
            <a:endParaRPr lang="en-US" sz="1300" dirty="0"/>
          </a:p>
        </p:txBody>
      </p:sp>
      <p:sp>
        <p:nvSpPr>
          <p:cNvPr id="11" name="Text 9"/>
          <p:cNvSpPr txBox="1"/>
          <p:nvPr/>
        </p:nvSpPr>
        <p:spPr>
          <a:xfrm>
            <a:off x="5093208" y="2423160"/>
            <a:ext cx="2048256" cy="3566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food bio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Snacks sains enfants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Boissons fonctionnelles enfants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Nutrition infantile spécialisée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7296912" y="1463040"/>
            <a:ext cx="2139696" cy="822960"/>
          </a:xfrm>
          <a:prstGeom prst="roundRect">
            <a:avLst>
              <a:gd name="adj" fmla="val 6667"/>
            </a:avLst>
          </a:prstGeom>
          <a:solidFill>
            <a:srgbClr val="EAF1F8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296912" y="146304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4. Cible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342632" y="2423160"/>
            <a:ext cx="2048256" cy="3566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PME à données financières vérifiables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Croissance, rentabilité, actionnariat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stratégique Evian / Danone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9546336" y="1463040"/>
            <a:ext cx="2139696" cy="822960"/>
          </a:xfrm>
          <a:prstGeom prst="roundRect">
            <a:avLst>
              <a:gd name="adj" fmla="val 6667"/>
            </a:avLst>
          </a:prstGeom>
          <a:solidFill>
            <a:srgbClr val="EAF1F8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546336" y="1463040"/>
            <a:ext cx="213969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5. Axe alt.</a:t>
            </a:r>
            <a:endParaRPr lang="en-US" sz="1300" dirty="0"/>
          </a:p>
        </p:txBody>
      </p:sp>
      <p:sp>
        <p:nvSpPr>
          <p:cNvPr id="17" name="Text 15"/>
          <p:cNvSpPr txBox="1"/>
          <p:nvPr/>
        </p:nvSpPr>
        <p:spPr>
          <a:xfrm>
            <a:off x="9592056" y="2423160"/>
            <a:ext cx="2048256" cy="35661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Priorisation des cibles, alignement « Renew Danone »</a:t>
            </a:r>
            <a:endParaRPr lang="en-US" sz="10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vers l'hydratation fonctionnelle</a:t>
            </a:r>
            <a:endParaRPr lang="en-US" sz="1050" dirty="0"/>
          </a:p>
        </p:txBody>
      </p:sp>
      <p:sp>
        <p:nvSpPr>
          <p:cNvPr id="18" name="Text 16"/>
          <p:cNvSpPr txBox="1"/>
          <p:nvPr/>
        </p:nvSpPr>
        <p:spPr>
          <a:xfrm>
            <a:off x="548640" y="6172200"/>
            <a:ext cx="10881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Seules les sociétés indépendantes aux données financières publiées sont retenues en short-list.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Segmentation du marché et choix du segment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8872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Sous-segments analysés : baby food bio, snacks sains enfants, boissons fonctionnelles enfants, nutrition infantile spécialisée. Le segment bio croît près de deux fois plus vite que le marché conventionnel.</a:t>
            </a:r>
            <a:endParaRPr lang="en-US" sz="12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92024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257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+5,05 %</a:t>
            </a:r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an</a:t>
            </a:r>
            <a:endParaRPr lang="en-US" sz="1300" dirty="0"/>
          </a:p>
        </p:txBody>
      </p:sp>
      <p:graphicFrame>
        <p:nvGraphicFramePr>
          <p:cNvPr id="6" name="Chart 1" descr=""/>
          <p:cNvGraphicFramePr/>
          <p:nvPr/>
        </p:nvGraphicFramePr>
        <p:xfrm>
          <a:off x="6172200" y="1920240"/>
          <a:ext cx="530352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7" name="Text 3"/>
          <p:cNvSpPr txBox="1"/>
          <p:nvPr/>
        </p:nvSpPr>
        <p:spPr>
          <a:xfrm>
            <a:off x="6172200" y="525780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+9,49 %</a:t>
            </a:r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an</a:t>
            </a:r>
            <a:endParaRPr lang="en-US" sz="1300" dirty="0"/>
          </a:p>
        </p:txBody>
      </p:sp>
      <p:sp>
        <p:nvSpPr>
          <p:cNvPr id="8" name="Text 4"/>
          <p:cNvSpPr txBox="1"/>
          <p:nvPr/>
        </p:nvSpPr>
        <p:spPr>
          <a:xfrm>
            <a:off x="548640" y="57607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retenu : baby food bio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croissance la plus rapide (9,49 % par an contre 5,05 %) et alignement avec le positionnement santé d'Evian et de Danone.</a:t>
            </a:r>
            <a:endParaRPr lang="en-US" sz="1150" dirty="0"/>
          </a:p>
        </p:txBody>
      </p:sp>
      <p:sp>
        <p:nvSpPr>
          <p:cNvPr id="9" name="Text 5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Mordor Intelligence, Europe Baby Food Market et Europe Organic Baby Food Market ; fourchettes variables selon le périmètre retenu.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Short-list de cibles en baby food bio et premium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Cinq cibles répondent aux critères. Smileat combine la taille la plus pertinente, la position de marché la plus forte et une rentabilité déjà établie.</a:t>
            </a:r>
            <a:endParaRPr lang="en-US" sz="125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737360"/>
          <a:ext cx="11064240" cy="914400"/>
        </p:xfrm>
        <a:graphic>
          <a:graphicData uri="http://schemas.openxmlformats.org/drawingml/2006/table">
            <a:tbl>
              <a:tblPr/>
              <a:tblGrid>
                <a:gridCol w="1097280"/>
                <a:gridCol w="1737360"/>
                <a:gridCol w="1371600"/>
                <a:gridCol w="1737360"/>
                <a:gridCol w="1188720"/>
                <a:gridCol w="3931920"/>
              </a:tblGrid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Société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Pays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Dernier CA publié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Croissance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Observation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3A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Smileat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Espagne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M€ (2025)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+26 %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Leader bio, rentable, indépendante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Yooji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~14 M€ (2025)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+42 %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Danone déjà actionnaire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Popote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France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7,74 M€ (2024)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+39 %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Indépendante, distribution bio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Little Freddie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Royaume-Uni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5,3 M£ (retail)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+36 %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Détenue par Hillhouse et VMG Partners depuis 2018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Secondaire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Pumpkin Organics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Allemagne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n.d.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Early stage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Levée seed de 4,3 M€ en 2023, 19 salariés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Critères de short-list : </a:t>
            </a:r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 supérieur à 5 M€, croissance annuelle supérieure à 25 %, positionnement bio, sans sucre ajouté ou clean label.</a:t>
            </a:r>
            <a:endParaRPr lang="en-US" sz="1050" dirty="0"/>
          </a:p>
        </p:txBody>
      </p:sp>
      <p:sp>
        <p:nvSpPr>
          <p:cNvPr id="6" name="Text 3"/>
          <p:cNvSpPr txBox="1"/>
          <p:nvPr/>
        </p:nvSpPr>
        <p:spPr>
          <a:xfrm>
            <a:off x="548640" y="53949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Comparables de valorisation déjà rachetés : </a:t>
            </a:r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Gout (H&amp;H), BEAR et Kiddylicious (Lotus Bakeries), Holle (MaserGrup).</a:t>
            </a:r>
            <a:endParaRPr lang="en-US" sz="10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registres officiels et presse spécialisée (Pappers, Companies House, FoodNavigator, LSA, The Grocer, elconciso.es, tracxn.com, pitchbook.com).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Fiche société cible : Smileat (Espagne)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du baby food bio en Espagne, 21 M€ de CA en 2025 et une croissance à deux chiffres depuis trois ans.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PROFIL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03120"/>
            <a:ext cx="557784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Fondée en 2015 par Alberto Jiménez et Javier Quintana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Siège et production en Espagne (usine à Jerez de la Frontera)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pots, pouches et snacks 100 % bio, sans sucre ajouté, principalement 0-3 ans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indépendante, certifiée B Corp, financée par ENISA et des business angels</a:t>
            </a:r>
            <a:endParaRPr lang="en-US" sz="11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57200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RENTABILITÉ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937760"/>
            <a:ext cx="557784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2024 « record, à deux chiffres » ; objectif supérieur à 2,5 M€ en 2025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Taille de 21 M€ adaptée à une opération de type bolt-on</a:t>
            </a:r>
            <a:endParaRPr lang="en-US" sz="1150" dirty="0"/>
          </a:p>
        </p:txBody>
      </p:sp>
      <p:sp>
        <p:nvSpPr>
          <p:cNvPr id="8" name="Text 6"/>
          <p:cNvSpPr txBox="1"/>
          <p:nvPr/>
        </p:nvSpPr>
        <p:spPr>
          <a:xfrm>
            <a:off x="6492240" y="173736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CHIFFRE D'AFFAIRES, M€</a:t>
            </a:r>
            <a:endParaRPr lang="en-US" sz="1050" dirty="0"/>
          </a:p>
        </p:txBody>
      </p:sp>
      <p:graphicFrame>
        <p:nvGraphicFramePr>
          <p:cNvPr id="9" name="Chart 0" descr=""/>
          <p:cNvGraphicFramePr/>
          <p:nvPr/>
        </p:nvGraphicFramePr>
        <p:xfrm>
          <a:off x="6492240" y="2057400"/>
          <a:ext cx="512064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0" name="Text 7"/>
          <p:cNvSpPr txBox="1"/>
          <p:nvPr/>
        </p:nvSpPr>
        <p:spPr>
          <a:xfrm>
            <a:off x="6492240" y="534924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2023 -&gt; 2024 : </a:t>
            </a:r>
            <a:pPr algn="ctr" indent="0" marL="0">
              <a:buNone/>
            </a:pPr>
            <a:r>
              <a:rPr lang="en-US" sz="1200" b="1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+39 %    </a:t>
            </a:r>
            <a:pPr algn="ctr" indent="0" marL="0">
              <a:buNone/>
            </a:pPr>
            <a:r>
              <a:rPr lang="en-US" sz="120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2024 -&gt; 2025 : </a:t>
            </a:r>
            <a:pPr algn="ctr" indent="0" marL="0">
              <a:buNone/>
            </a:pPr>
            <a:r>
              <a:rPr lang="en-US" sz="1200" b="1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+26 %</a:t>
            </a:r>
            <a:endParaRPr lang="en-US" sz="1200" dirty="0"/>
          </a:p>
        </p:txBody>
      </p:sp>
      <p:sp>
        <p:nvSpPr>
          <p:cNvPr id="11" name="Text 8"/>
          <p:cNvSpPr txBox="1"/>
          <p:nvPr/>
        </p:nvSpPr>
        <p:spPr>
          <a:xfrm>
            <a:off x="548640" y="60807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Fit stratégique : </a:t>
            </a:r>
            <a:pPr indent="0" marL="0">
              <a:buNone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bio pure sans sucre ajouté, réseau retail ibérique complémentaire des positions de Danone, taille adaptée à un bolt-on.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400800"/>
            <a:ext cx="11064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elconciso.es (Smileat aumenta su facturación 2025) ; forbes.es ; foodretail.es (déclarations des cofondateurs, février 2025).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Produits et positionnement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Une gamme 100 % bio sans sucre ajouté, qui place la marque en tête de sa catégorie en Espagne.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28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PRODUITS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19456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Petits pots, pouches et snacks 100 % bio, sans sucre ajouté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Gamme centrée sur les 0-3 ans, recettes courtes et clean label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intégrée en Espagne (usine de Jerez de la Frontera)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114800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DE MARCHÉ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4480560"/>
            <a:ext cx="5943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Leader de la catégorie bio en Espagne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2e marque du marché total, bio et conventionnel confondus (petits pots, wet weaning, snacks)</a:t>
            </a:r>
            <a:endParaRPr lang="en-US" sz="12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Marque de référence sur un segment où la croissance est la plus forte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949440" y="1828800"/>
            <a:ext cx="4663440" cy="1920240"/>
          </a:xfrm>
          <a:prstGeom prst="roundRect">
            <a:avLst>
              <a:gd name="adj" fmla="val 2857"/>
            </a:avLst>
          </a:prstGeom>
          <a:solidFill>
            <a:srgbClr val="1B2A4A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78040" y="2011680"/>
            <a:ext cx="4206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49 %</a:t>
            </a:r>
            <a:endParaRPr lang="en-US" sz="4800" dirty="0"/>
          </a:p>
        </p:txBody>
      </p:sp>
      <p:sp>
        <p:nvSpPr>
          <p:cNvPr id="10" name="Text 8"/>
          <p:cNvSpPr txBox="1"/>
          <p:nvPr/>
        </p:nvSpPr>
        <p:spPr>
          <a:xfrm>
            <a:off x="7178040" y="2880360"/>
            <a:ext cx="42062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FA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part de marché sur la catégorie baby food bio en Espagne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6949440" y="3977640"/>
            <a:ext cx="4663440" cy="1920240"/>
          </a:xfrm>
          <a:prstGeom prst="roundRect">
            <a:avLst>
              <a:gd name="adj" fmla="val 2857"/>
            </a:avLst>
          </a:prstGeom>
          <a:solidFill>
            <a:srgbClr val="0E63A8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178040" y="416052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2e marque</a:t>
            </a:r>
            <a:endParaRPr lang="en-US" sz="3000" dirty="0"/>
          </a:p>
        </p:txBody>
      </p:sp>
      <p:sp>
        <p:nvSpPr>
          <p:cNvPr id="13" name="Text 11"/>
          <p:cNvSpPr txBox="1"/>
          <p:nvPr/>
        </p:nvSpPr>
        <p:spPr>
          <a:xfrm>
            <a:off x="7178040" y="4892040"/>
            <a:ext cx="42062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 marché total espagnol du baby food, toutes catégories confondues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630936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Europa Press, 18 février 2026, repris par elconciso.es.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Rationale stratégique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Quatre sources de synergies alignent la cible avec le portefeuille d'Evian et de Danone.</a:t>
            </a:r>
            <a:endParaRPr lang="en-US" sz="125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EAF1F8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8196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Produit</a:t>
            </a:r>
            <a:endParaRPr lang="en-US" sz="135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219456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Renforce l'offre bio, complète la gamme Blédina de Danone sur les 0-3 ans.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35040" y="169164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EAF1F8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263640" y="181965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Distribution</a:t>
            </a:r>
            <a:endParaRPr lang="en-US" sz="1350" dirty="0"/>
          </a:p>
        </p:txBody>
      </p:sp>
      <p:sp>
        <p:nvSpPr>
          <p:cNvPr id="9" name="Text 7"/>
          <p:cNvSpPr txBox="1"/>
          <p:nvPr/>
        </p:nvSpPr>
        <p:spPr>
          <a:xfrm>
            <a:off x="6263640" y="219456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Réseau GMS espagnol complémentaire des positions d'Evian en Espagne.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EAF1F8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777240" y="39684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Marque et image santé</a:t>
            </a:r>
            <a:endParaRPr lang="en-US" sz="135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434340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Positionnement sans sucre ajouté déjà conforme au durcissement réglementaire : Nutri-Score 2.0 déployé en Espagne, l'un des huit pays adoptants, et au règlement UE 1924/2006 sur les allégations sucre.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035040" y="3840480"/>
            <a:ext cx="5212080" cy="1920240"/>
          </a:xfrm>
          <a:prstGeom prst="roundRect">
            <a:avLst>
              <a:gd name="adj" fmla="val 2857"/>
            </a:avLst>
          </a:prstGeom>
          <a:solidFill>
            <a:srgbClr val="EAF1F8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263640" y="3968496"/>
            <a:ext cx="4754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E63A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Innovation et R&amp;D</a:t>
            </a:r>
            <a:endParaRPr lang="en-US" sz="1350" dirty="0"/>
          </a:p>
        </p:txBody>
      </p:sp>
      <p:sp>
        <p:nvSpPr>
          <p:cNvPr id="15" name="Text 13"/>
          <p:cNvSpPr txBox="1"/>
          <p:nvPr/>
        </p:nvSpPr>
        <p:spPr>
          <a:xfrm>
            <a:off x="6263640" y="4343400"/>
            <a:ext cx="475488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Mutualisable avec les équipes nutrition fonctionnelle de Danone, dans la lignée de Huel et de Kate Farms.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castle-group.eu (déploiement de Nutri-Score 2.0, Espagne parmi les huit pays adoptants) ; eur-lex.europa.eu (règlement CE 1924/2006).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Axe alternatif : nutrition fonctionnelle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502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opérations récentes du groupe tracent un second axe de croissance pour Evian : la nutrition fonctionnelle destinée aux adultes actifs.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8308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PRÉCÉDENTS DANONE DANS LA NUTRITION FONCTIONNELLE</a:t>
            </a:r>
            <a:endParaRPr lang="en-US" sz="105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148840"/>
          <a:ext cx="11064240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4343400"/>
                <a:gridCol w="434340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Indicateur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Huel (Royaume-Uni)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3A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MADE Group (Australie)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63A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Activité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Repas complets nutritionnellement équilibrés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Boissons protéinées et yaourts santé intestinale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Chiffre d'affaires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250 M£ (2025)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Plus de 300 M€ attendus en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Rentabilité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EBITDA ajusté 18,2 M£, marge brute 59 %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n.d.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Valorisation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 1 Md€, soit 4,0x le chiffre d'affaires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Environ 2 Md AU$ (presse)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 finalisée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1B2A4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Acquisition annoncée en 2026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9D9D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AF1F8"/>
                    </a:solidFill>
                  </a:tcPr>
                </a:tc>
              </a:tr>
            </a:tbl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394960"/>
            <a:ext cx="11064240" cy="411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Secteur proposé :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boissons et solutions de nutrition fonctionnelle pour adultes actifs - hydratation enrichie, repas équilibrés, nutrition clinique.</a:t>
            </a:r>
            <a:endParaRPr lang="en-US" sz="1150" dirty="0"/>
          </a:p>
        </p:txBody>
      </p:sp>
      <p:sp>
        <p:nvSpPr>
          <p:cNvPr id="7" name="Text 4"/>
          <p:cNvSpPr txBox="1"/>
          <p:nvPr/>
        </p:nvSpPr>
        <p:spPr>
          <a:xfrm>
            <a:off x="548640" y="576072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Autres opérations du groupe sur le même axe : </a:t>
            </a:r>
            <a:pPr indent="0" marL="0">
              <a:buNone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Kate Farms, Functional Formularies, The Akkermansia Company.</a:t>
            </a:r>
            <a:endParaRPr lang="en-US" sz="1150" dirty="0"/>
          </a:p>
        </p:txBody>
      </p:sp>
      <p:sp>
        <p:nvSpPr>
          <p:cNvPr id="8" name="Text 5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danone.com (communiqués officiels) ; marktomarket.io (multiple de 4,0x) ; globenewswire.com (MADE Group, 22/06/2026).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Axe alternatif : pertinence pour Evian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marché de 47 Md$ en 2031, dans le prolongement direct de la promesse d'hydratation d'Evian.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MARCHÉ EUROPÉEN DES BOISSONS FONCTIONNELLES, MD$</a:t>
            </a:r>
            <a:endParaRPr lang="en-US" sz="105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48640" y="2057400"/>
          <a:ext cx="5303520" cy="31089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 txBox="1"/>
          <p:nvPr/>
        </p:nvSpPr>
        <p:spPr>
          <a:xfrm>
            <a:off x="548640" y="51206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+6,18 %</a:t>
            </a:r>
            <a:pPr algn="ctr" indent="0" marL="0">
              <a:buNone/>
            </a:pPr>
            <a:r>
              <a:rPr lang="en-US" sz="130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par an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172200" y="1737360"/>
            <a:ext cx="5394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LOGIQUE STRATÉGIQUE</a:t>
            </a:r>
            <a:endParaRPr lang="en-US" sz="1050" dirty="0"/>
          </a:p>
        </p:txBody>
      </p:sp>
      <p:sp>
        <p:nvSpPr>
          <p:cNvPr id="8" name="Text 5"/>
          <p:cNvSpPr txBox="1"/>
          <p:nvPr/>
        </p:nvSpPr>
        <p:spPr>
          <a:xfrm>
            <a:off x="6172200" y="2103120"/>
            <a:ext cx="539496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Extension naturelle de la marque d'eau vers l'hydratation fonctionnelle pour adultes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Synergies de distribution : GMS, e-commerce, circuits CHR</a:t>
            </a:r>
            <a:endParaRPr lang="en-US" sz="115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1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Cohérence avec une plateforme unique « water and nutrition »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6172200" y="4160520"/>
            <a:ext cx="5394960" cy="1417320"/>
          </a:xfrm>
          <a:prstGeom prst="roundRect">
            <a:avLst>
              <a:gd name="adj" fmla="val 3871"/>
            </a:avLst>
          </a:prstGeom>
          <a:solidFill>
            <a:srgbClr val="2E7D5B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400800" y="429768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Risque réglementaire écarté</a:t>
            </a:r>
            <a:endParaRPr lang="en-US" sz="1250" dirty="0"/>
          </a:p>
        </p:txBody>
      </p:sp>
      <p:sp>
        <p:nvSpPr>
          <p:cNvPr id="11" name="Text 8"/>
          <p:cNvSpPr txBox="1"/>
          <p:nvPr/>
        </p:nvSpPr>
        <p:spPr>
          <a:xfrm>
            <a:off x="6400800" y="4663440"/>
            <a:ext cx="49377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 ciblage adultes évite le durcissement qui pèse sur les boissons énergisantes destinées aux mineurs : interdiction de vente aux moins de 18 ans en Pologne, Roumanie, Hongrie et Bulgarie.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548640" y="626364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: Mordor Intelligence, Europe Functional Beverage Market ; usda.gov (FAS) ; beveragedaily.com (décembre 2025).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Conclusion et recommandation</a:t>
            </a:r>
            <a:endParaRPr lang="en-US" sz="25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6675120" cy="4800600"/>
          </a:xfrm>
          <a:prstGeom prst="roundRect">
            <a:avLst>
              <a:gd name="adj" fmla="val 1143"/>
            </a:avLst>
          </a:prstGeom>
          <a:solidFill>
            <a:srgbClr val="EAF1F8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68680" y="1463040"/>
            <a:ext cx="6126480" cy="44805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Segment retenu :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baby food bio, +9,49 %/an contre +5,05 % pour le marché conventionnel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Cible prioritaire :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Smileat, 21 M€ de CA en 2025, en hausse de 26 %, leader bio en Espagne avec 49 % de part de marché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 de repli :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Yooji, dont Danone est déjà actionnaire, et Popote, 7,74 M€ de CA en forte progression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alternatif confirmé :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 les opérations Huel et MADE Group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b="1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Comparables de valorisation : </a:t>
            </a:r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Gout (H&amp;H), BEAR et Kiddylicious (Lotus Bakeries), Holle (MaserGrup), Huel (4,0x le CA)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7498080" y="1234440"/>
            <a:ext cx="4114800" cy="4800600"/>
          </a:xfrm>
          <a:prstGeom prst="roundRect">
            <a:avLst>
              <a:gd name="adj" fmla="val 1333"/>
            </a:avLst>
          </a:prstGeom>
          <a:solidFill>
            <a:srgbClr val="0E63A8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0" y="1417320"/>
            <a:ext cx="3566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Recommandation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7772400" y="1828800"/>
            <a:ext cx="35661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Engager une prise de contact et une due diligence sur Smileat, et ouvrir en parallèle une discussion avec Yooji.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7772400" y="2971800"/>
            <a:ext cx="3566160" cy="2926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spcAft>
                <a:spcPts val="7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Prochaines étapes :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Due diligence financière et data room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Vérification de l'EBITDA 2025 et des multiples demandés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Conformité Nutri-Score des références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Exposition de Popote au rappel de laits infantiles (cereulide, février 2026)</a:t>
            </a:r>
            <a:endParaRPr lang="en-US" sz="11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Screening propriétaire des boissons fonctionnelles enfants (CFNEWS, PitchBook)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65760"/>
            <a:ext cx="11064240" cy="73152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algn="l" indent="0" marL="0">
              <a:buNone/>
            </a:pPr>
            <a:r>
              <a:rPr lang="en-US" sz="2500" b="1" dirty="0">
                <a:solidFill>
                  <a:srgbClr val="1B2A4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Sources</a:t>
            </a:r>
            <a:endParaRPr lang="en-US" sz="25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143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Ensemble des sources publiques consultées, par nature d'information.</a:t>
            </a:r>
            <a:endParaRPr lang="en-US" sz="125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737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SOCIÉTÉ CIBLE ET CONCURRENCE</a:t>
            </a:r>
            <a:endParaRPr lang="en-US" sz="105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2084832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elconciso.es (facturation 2025 de Smileat)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forbes.es ; foodretail.es (cofondateurs, février 2025)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Europa Press, 18 février 2026 (parts de marché)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circuits-bio.com ; euronews.com (rappels laits infantiles, févr. 2026)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tracxn.com ; pitchbook.com (actionnariat Little Freddie)</a:t>
            </a:r>
            <a:endParaRPr lang="en-US" sz="1050" dirty="0"/>
          </a:p>
        </p:txBody>
      </p:sp>
      <p:sp>
        <p:nvSpPr>
          <p:cNvPr id="6" name="Text 4"/>
          <p:cNvSpPr txBox="1"/>
          <p:nvPr/>
        </p:nvSpPr>
        <p:spPr>
          <a:xfrm>
            <a:off x="6035040" y="173736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DONNÉES DE MARCHÉ</a:t>
            </a:r>
            <a:endParaRPr lang="en-US" sz="1050" dirty="0"/>
          </a:p>
        </p:txBody>
      </p:sp>
      <p:sp>
        <p:nvSpPr>
          <p:cNvPr id="7" name="Text 5"/>
          <p:cNvSpPr txBox="1"/>
          <p:nvPr/>
        </p:nvSpPr>
        <p:spPr>
          <a:xfrm>
            <a:off x="6035040" y="2084832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Intelligence, Europe Baby Food Market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Intelligence, Europe Organic Baby Food Market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Mordor Intelligence, Europe Functional Beverage Market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OPÉRATIONS DU GROUPE DANONE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4416552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danone.com (communiqués Huel, Kate Farms)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globenewswire.com (MADE Group, 22/06/2026)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marktomarket.io (analyse du multiple de 4,0x)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beveragedaily.com (débat européen, décembre 2025)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6035040" y="4069080"/>
            <a:ext cx="5212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0E6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RÉGLEMENTATION</a:t>
            </a:r>
            <a:endParaRPr lang="en-US" sz="1050" dirty="0"/>
          </a:p>
        </p:txBody>
      </p:sp>
      <p:sp>
        <p:nvSpPr>
          <p:cNvPr id="11" name="Text 9"/>
          <p:cNvSpPr txBox="1"/>
          <p:nvPr/>
        </p:nvSpPr>
        <p:spPr>
          <a:xfrm>
            <a:off x="6035040" y="4416552"/>
            <a:ext cx="5212080" cy="1920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castle-group.eu (Nutri-Score 2.0)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eur-lex.europa.eu (règlement CE 1924/2006)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4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usda.gov, Foreign Agricultural Service (Pologne)</a:t>
            </a:r>
            <a:endParaRPr lang="en-US" sz="10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6355080"/>
            <a:ext cx="11064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8C8C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 chiffres de marché proviennent d'estimations d'instituts privés et peuvent varier selon le périmètre retenu.</a:t>
            </a:r>
            <a:endParaRPr lang="en-US" sz="9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521440" y="653796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8C8C8C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vian MA">
  <a:themeElements>
    <a:clrScheme name="Evian MA">
      <a:dk1>
        <a:srgbClr val="1B2A4A"/>
      </a:dk1>
      <a:lt1>
        <a:srgbClr val="FFFFFF"/>
      </a:lt1>
      <a:dk2>
        <a:srgbClr val="0E63A8"/>
      </a:dk2>
      <a:lt2>
        <a:srgbClr val="EAF1F8"/>
      </a:lt2>
      <a:accent1>
        <a:srgbClr val="0E63A8"/>
      </a:accent1>
      <a:accent2>
        <a:srgbClr val="6FA8D6"/>
      </a:accent2>
      <a:accent3>
        <a:srgbClr val="D6412E"/>
      </a:accent3>
      <a:accent4>
        <a:srgbClr val="2E7D5B"/>
      </a:accent4>
      <a:accent5>
        <a:srgbClr val="8C8C8C"/>
      </a:accent5>
      <a:accent6>
        <a:srgbClr val="1B2A4A"/>
      </a:accent6>
      <a:hlink>
        <a:srgbClr val="0E63A8"/>
      </a:hlink>
      <a:folHlink>
        <a:srgbClr val="6FA8D6"/>
      </a:folHlink>
    </a:clrScheme>
    <a:fontScheme name="Evian MA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Yvann Ahoure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2026-10-12T18:00:55Z</dcterms:created>
  <dcterms:modified xsi:type="dcterms:W3CDTF">2026-10-12T18:00:55Z</dcterms:modified>
</cp:coreProperties>
</file>